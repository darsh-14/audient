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9" r:id="rId8"/>
    <p:sldId id="263" r:id="rId12"/>
    <p:sldId id="262" r:id="rId11"/>
    <p:sldId id="264" r:id="rId13"/>
    <p:sldId id="266" r:id="rId15"/>
    <p:sldId id="267" r:id="rId1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703320"/>
            <a:ext cx="67665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Theme ID - Theme 05: Interruptible Real-Time Agents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Team Name - Krenos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College Name - SRMIST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1 - Haina Kumari, hainakumari1@gmail.com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2 - Bipin Kumar, bipinkumar620013@gmail.com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3 - Titas Ghosh, titas.ghosh7@gmail.com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Submission Github link - github.com/Darsh-14/Audient</a:t>
            </a:r>
            <a:endParaRPr/>
          </a:p>
          <a:p>
            <a:pPr indent="-76200" lvl="0" marL="1778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b="0" i="0" sz="1600" u="none" cap="none" strike="noStrike">
              <a:solidFill>
                <a:srgbClr val="63637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TextBox 96"/>
          <p:cNvSpPr txBox="1"/>
          <p:nvPr/>
        </p:nvSpPr>
        <p:spPr>
          <a:xfrm>
            <a:off x="777240" y="320040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6D28D9"/>
                </a:solidFill>
              </a:rPr>
              <a:t>Audient: Dual-Path Full-Duplex Agent with Dynamic Cancellation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548640" y="201168"/>
            <a:ext cx="1106424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8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566928" y="105156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6D28D9"/>
                </a:solidFill>
              </a:rPr>
              <a:t>Theme 05: Interruptible Real-Time Agents — voice-native, full-duplex, tool-using assistants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548640" y="1645920"/>
            <a:ext cx="3611880" cy="489204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/>
          <a:lstStyle/>
          <a:p>
            <a:pPr algn="ctr"/>
            <a:r>
              <a:rPr sz="1650" b="1">
                <a:solidFill>
                  <a:srgbClr val="6D28D9"/>
                </a:solidFill>
              </a:rPr>
              <a:t>PROBLEM STATEMENT</a:t>
            </a:r>
          </a:p>
          <a:p>
            <a:pPr algn="ctr">
              <a:spcAft>
                <a:spcPts val="400"/>
              </a:spcAft>
            </a:pPr>
            <a:r>
              <a:rPr sz="1450" b="1">
                <a:solidFill>
                  <a:srgbClr val="111827"/>
                </a:solidFill>
              </a:rPr>
              <a:t>The full-duplex concurrency challenge</a:t>
            </a:r>
          </a:p>
          <a:p>
            <a:pPr>
              <a:spcBef>
                <a:spcPts val="300"/>
              </a:spcBef>
            </a:pPr>
            <a:r>
              <a:rPr sz="1250" b="1">
                <a:solidFill>
                  <a:srgbClr val="111827"/>
                </a:solidFill>
              </a:rPr>
              <a:t>• Half-duplex bottleneck: </a:t>
            </a:r>
            <a:r>
              <a:rPr sz="1250">
                <a:solidFill>
                  <a:srgbClr val="475569"/>
                </a:solidFill>
              </a:rPr>
              <a:t>assistants listen → think → speak in rigid turns, but people interrupt, pause and correct themselves mid-sentence.</a:t>
            </a:r>
          </a:p>
          <a:p>
            <a:pPr>
              <a:spcBef>
                <a:spcPts val="300"/>
              </a:spcBef>
            </a:pPr>
            <a:r>
              <a:rPr sz="1250" b="1">
                <a:solidFill>
                  <a:srgbClr val="111827"/>
                </a:solidFill>
              </a:rPr>
              <a:t>• Stale plans: </a:t>
            </a:r>
            <a:r>
              <a:rPr sz="1250">
                <a:solidFill>
                  <a:srgbClr val="475569"/>
                </a:solidFill>
              </a:rPr>
              <a:t>a correction arriving while a tool call is in flight must cancel it, not queue behind it.</a:t>
            </a:r>
          </a:p>
          <a:p>
            <a:pPr>
              <a:spcBef>
                <a:spcPts val="300"/>
              </a:spcBef>
            </a:pPr>
            <a:r>
              <a:rPr sz="1250" b="1">
                <a:solidFill>
                  <a:srgbClr val="111827"/>
                </a:solidFill>
              </a:rPr>
              <a:t>• Today's failure modes: </a:t>
            </a:r>
            <a:r>
              <a:rPr sz="1250">
                <a:solidFill>
                  <a:srgbClr val="475569"/>
                </a:solidFill>
              </a:rPr>
              <a:t>dead air while tools run, or confident 'Done!' before the action has actually happened.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4297680" y="1645920"/>
            <a:ext cx="3611880" cy="489204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/>
          <a:lstStyle/>
          <a:p>
            <a:pPr algn="ctr"/>
            <a:r>
              <a:rPr sz="1650" b="1">
                <a:solidFill>
                  <a:srgbClr val="2563EB"/>
                </a:solidFill>
              </a:rPr>
              <a:t>DISFLUENCIES</a:t>
            </a:r>
          </a:p>
          <a:p>
            <a:pPr algn="ctr">
              <a:spcAft>
                <a:spcPts val="400"/>
              </a:spcAft>
            </a:pPr>
            <a:r>
              <a:rPr sz="1450" b="1">
                <a:solidFill>
                  <a:srgbClr val="111827"/>
                </a:solidFill>
              </a:rPr>
              <a:t>Five kinds of messy speech we handle</a:t>
            </a:r>
          </a:p>
          <a:p>
            <a:pPr>
              <a:spcBef>
                <a:spcPts val="300"/>
              </a:spcBef>
            </a:pPr>
            <a:r>
              <a:rPr sz="1250" b="1">
                <a:solidFill>
                  <a:srgbClr val="111827"/>
                </a:solidFill>
              </a:rPr>
              <a:t>• Fillers ('um', 'uh'): </a:t>
            </a:r>
            <a:r>
              <a:rPr sz="1250">
                <a:solidFill>
                  <a:srgbClr val="475569"/>
                </a:solidFill>
              </a:rPr>
              <a:t>the user still holds the floor; don't answer yet.</a:t>
            </a:r>
          </a:p>
          <a:p>
            <a:pPr>
              <a:spcBef>
                <a:spcPts val="300"/>
              </a:spcBef>
            </a:pPr>
            <a:r>
              <a:rPr sz="1250" b="1">
                <a:solidFill>
                  <a:srgbClr val="111827"/>
                </a:solidFill>
              </a:rPr>
              <a:t>• Acoustic pauses: </a:t>
            </a:r>
            <a:r>
              <a:rPr sz="1250">
                <a:solidFill>
                  <a:srgbClr val="475569"/>
                </a:solidFill>
              </a:rPr>
              <a:t>a VAD end-of-turn after 'fly to, um…' is not a finished request.</a:t>
            </a:r>
          </a:p>
          <a:p>
            <a:pPr>
              <a:spcBef>
                <a:spcPts val="300"/>
              </a:spcBef>
            </a:pPr>
            <a:r>
              <a:rPr sz="1250" b="1">
                <a:solidFill>
                  <a:srgbClr val="111827"/>
                </a:solidFill>
              </a:rPr>
              <a:t>• Stutters &amp; hesitations: </a:t>
            </a:r>
            <a:r>
              <a:rPr sz="1250">
                <a:solidFill>
                  <a:srgbClr val="475569"/>
                </a:solidFill>
              </a:rPr>
              <a:t>'f-f-find', 'to to', 'Bo- Boston'.</a:t>
            </a:r>
          </a:p>
          <a:p>
            <a:pPr>
              <a:spcBef>
                <a:spcPts val="300"/>
              </a:spcBef>
            </a:pPr>
            <a:r>
              <a:rPr sz="1250" b="1">
                <a:solidFill>
                  <a:srgbClr val="111827"/>
                </a:solidFill>
              </a:rPr>
              <a:t>• False starts: </a:t>
            </a:r>
            <a:r>
              <a:rPr sz="1250">
                <a:solidFill>
                  <a:srgbClr val="475569"/>
                </a:solidFill>
              </a:rPr>
              <a:t>'I need to b- book, no, just find flights…'.</a:t>
            </a:r>
          </a:p>
          <a:p>
            <a:pPr>
              <a:spcBef>
                <a:spcPts val="300"/>
              </a:spcBef>
            </a:pPr>
            <a:r>
              <a:rPr sz="1250" b="1">
                <a:solidFill>
                  <a:srgbClr val="111827"/>
                </a:solidFill>
              </a:rPr>
              <a:t>• Self-corrections: </a:t>
            </a:r>
            <a:r>
              <a:rPr sz="1250">
                <a:solidFill>
                  <a:srgbClr val="475569"/>
                </a:solidFill>
              </a:rPr>
              <a:t>'Delhi, no wait, Bangalore' → roll back one slot, keep the rest.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8046720" y="1645920"/>
            <a:ext cx="3611880" cy="489204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/>
          <a:lstStyle/>
          <a:p>
            <a:pPr algn="ctr"/>
            <a:r>
              <a:rPr sz="1650" b="1">
                <a:solidFill>
                  <a:srgbClr val="D97706"/>
                </a:solidFill>
              </a:rPr>
              <a:t>TECHNICAL CHALLENGE</a:t>
            </a:r>
          </a:p>
          <a:p>
            <a:pPr algn="ctr">
              <a:spcAft>
                <a:spcPts val="400"/>
              </a:spcAft>
            </a:pPr>
            <a:r>
              <a:rPr sz="1450" b="1">
                <a:solidFill>
                  <a:srgbClr val="111827"/>
                </a:solidFill>
              </a:rPr>
              <a:t>Concurrency &amp; state consistency</a:t>
            </a:r>
          </a:p>
          <a:p>
            <a:pPr>
              <a:spcBef>
                <a:spcPts val="300"/>
              </a:spcBef>
            </a:pPr>
            <a:r>
              <a:rPr sz="1250" b="1">
                <a:solidFill>
                  <a:srgbClr val="111827"/>
                </a:solidFill>
              </a:rPr>
              <a:t>• Floor management: </a:t>
            </a:r>
            <a:r>
              <a:rPr sz="1250">
                <a:solidFill>
                  <a:srgbClr val="475569"/>
                </a:solidFill>
              </a:rPr>
              <a:t>a meaningful spoken acknowledgment within 250 ms, never a false completion claim.</a:t>
            </a:r>
          </a:p>
          <a:p>
            <a:pPr>
              <a:spcBef>
                <a:spcPts val="300"/>
              </a:spcBef>
            </a:pPr>
            <a:r>
              <a:rPr sz="1250" b="1">
                <a:solidFill>
                  <a:srgbClr val="111827"/>
                </a:solidFill>
              </a:rPr>
              <a:t>• Speculative execution: </a:t>
            </a:r>
            <a:r>
              <a:rPr sz="1250">
                <a:solidFill>
                  <a:srgbClr val="475569"/>
                </a:solidFill>
              </a:rPr>
              <a:t>start safe (read-only) work before the user finishes; perception runs in worker threads.</a:t>
            </a:r>
          </a:p>
          <a:p>
            <a:pPr>
              <a:spcBef>
                <a:spcPts val="300"/>
              </a:spcBef>
            </a:pPr>
            <a:r>
              <a:rPr sz="1250" b="1">
                <a:solidFill>
                  <a:srgbClr val="111827"/>
                </a:solidFill>
              </a:rPr>
              <a:t>• Transactional recovery: </a:t>
            </a:r>
            <a:r>
              <a:rPr sz="1250">
                <a:solidFill>
                  <a:srgbClr val="475569"/>
                </a:solidFill>
              </a:rPr>
              <a:t>abort superseded in-flight calls within a 15 ms grace period, update the state snapshot, never duplicate a state-changing action.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548640" y="201168"/>
            <a:ext cx="1106424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8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Solutions &amp; Architecture Diagram</a:t>
            </a:r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566928" y="105156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6D28D9"/>
                </a:solidFill>
              </a:rPr>
              <a:t>Audient on Full-Duplex-Bench v3: Gemini Live through LiveKit, with a coordination layer between model and tools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548640" y="1691640"/>
            <a:ext cx="5394960" cy="5486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118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11827"/>
                </a:solidFill>
              </a:rPr>
              <a:t>User audio → LiveKit room</a:t>
            </a:r>
          </a:p>
          <a:p>
            <a:pPr algn="ctr"/>
            <a:r>
              <a:rPr sz="950" b="0">
                <a:solidFill>
                  <a:srgbClr val="475569"/>
                </a:solidFill>
              </a:rPr>
              <a:t>FDB-v3 recording (48 kHz, fillers, pauses, self-corrections), streamed live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548640" y="2560320"/>
            <a:ext cx="2606040" cy="12344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59669"/>
                </a:solidFill>
              </a:rPr>
              <a:t>LOCAL VOICE DETECTOR</a:t>
            </a:r>
          </a:p>
          <a:p>
            <a:pPr algn="ctr"/>
            <a:r>
              <a:rPr sz="950" b="0">
                <a:solidFill>
                  <a:srgbClr val="475569"/>
                </a:solidFill>
              </a:rPr>
              <a:t>Silero VAD on the user's audio:</a:t>
            </a:r>
          </a:p>
          <a:p>
            <a:pPr algn="ctr"/>
            <a:r>
              <a:rPr sz="950" b="0">
                <a:solidFill>
                  <a:srgbClr val="475569"/>
                </a:solidFill>
              </a:rPr>
              <a:t>when the user starts and</a:t>
            </a:r>
          </a:p>
          <a:p>
            <a:pPr algn="ctr"/>
            <a:r>
              <a:rPr sz="950" b="0">
                <a:solidFill>
                  <a:srgbClr val="475569"/>
                </a:solidFill>
              </a:rPr>
              <a:t>stops speaking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3337560" y="2560320"/>
            <a:ext cx="2606040" cy="12344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563EB"/>
                </a:solidFill>
              </a:rPr>
              <a:t>GEMINI LIVE</a:t>
            </a:r>
          </a:p>
          <a:p>
            <a:pPr algn="ctr"/>
            <a:r>
              <a:rPr sz="950" b="0">
                <a:solidFill>
                  <a:srgbClr val="475569"/>
                </a:solidFill>
              </a:rPr>
              <a:t>Gemini 2.5 Flash native audio:</a:t>
            </a:r>
          </a:p>
          <a:p>
            <a:pPr algn="ctr"/>
            <a:r>
              <a:rPr sz="950" b="0">
                <a:solidFill>
                  <a:srgbClr val="475569"/>
                </a:solidFill>
              </a:rPr>
              <a:t>listens, decides, speaks,</a:t>
            </a:r>
          </a:p>
          <a:p>
            <a:pPr algn="ctr"/>
            <a:r>
              <a:rPr sz="950" b="0">
                <a:solidFill>
                  <a:srgbClr val="475569"/>
                </a:solidFill>
              </a:rPr>
              <a:t>issues tool calls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548640" y="4114800"/>
            <a:ext cx="5394960" cy="10972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DC2626"/>
                </a:solidFill>
              </a:rPr>
              <a:t>AUDIENT COORDINATION LAYER</a:t>
            </a:r>
          </a:p>
          <a:p>
            <a:pPr algn="ctr"/>
            <a:r>
              <a:rPr sz="950" b="0">
                <a:solidFill>
                  <a:srgbClr val="475569"/>
                </a:solidFill>
              </a:rPr>
              <a:t>hold, then commit (2.0 s of quiet) · defer, don't drop</a:t>
            </a:r>
          </a:p>
          <a:p>
            <a:pPr algn="ctr"/>
            <a:r>
              <a:rPr sz="950" b="0">
                <a:solidFill>
                  <a:srgbClr val="475569"/>
                </a:solidFill>
              </a:rPr>
              <a:t>never repeat an identical call · ask for the reply if Gemini drops it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48640" y="5532120"/>
            <a:ext cx="5394960" cy="5486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118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11827"/>
                </a:solidFill>
              </a:rPr>
              <a:t>FDB-v3 mock tools and call log</a:t>
            </a:r>
          </a:p>
          <a:p>
            <a:pPr algn="ctr"/>
            <a:r>
              <a:rPr sz="950" b="0">
                <a:solidFill>
                  <a:srgbClr val="475569"/>
                </a:solidFill>
              </a:rPr>
              <a:t>12 tools in 4 domains (travel, finance, housing, e-commerce), scored by FDB-v3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1828800" y="2240280"/>
            <a:ext cx="0" cy="320040"/>
          </a:xfrm>
          <a:prstGeom prst="line">
            <a:avLst/>
          </a:prstGeom>
          <a:ln w="2222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4663440" y="2240280"/>
            <a:ext cx="0" cy="320040"/>
          </a:xfrm>
          <a:prstGeom prst="line">
            <a:avLst/>
          </a:prstGeom>
          <a:ln w="2222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1828800" y="3794760"/>
            <a:ext cx="0" cy="320040"/>
          </a:xfrm>
          <a:prstGeom prst="line">
            <a:avLst/>
          </a:prstGeom>
          <a:ln w="2222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4663440" y="3794760"/>
            <a:ext cx="0" cy="320040"/>
          </a:xfrm>
          <a:prstGeom prst="line">
            <a:avLst/>
          </a:prstGeom>
          <a:ln w="2222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3246120" y="5212080"/>
            <a:ext cx="0" cy="320040"/>
          </a:xfrm>
          <a:prstGeom prst="line">
            <a:avLst/>
          </a:prstGeom>
          <a:ln w="2222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ounded Rectangle 124"/>
          <p:cNvSpPr/>
          <p:nvPr/>
        </p:nvSpPr>
        <p:spPr>
          <a:xfrm>
            <a:off x="6172200" y="164592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 w="190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/>
          <a:lstStyle/>
          <a:p>
            <a:pPr algn="ctr"/>
            <a:r>
              <a:rPr sz="1450" b="1">
                <a:solidFill>
                  <a:srgbClr val="059669"/>
                </a:solidFill>
              </a:rPr>
              <a:t>HOLD, THEN COMMIT</a:t>
            </a:r>
          </a:p>
          <a:p>
            <a:pPr>
              <a:spcBef>
                <a:spcPts val="300"/>
              </a:spcBef>
            </a:pPr>
            <a:r>
              <a:rPr sz="1050" b="1">
                <a:solidFill>
                  <a:srgbClr val="111827"/>
                </a:solidFill>
              </a:rPr>
              <a:t>• Pauses: </a:t>
            </a:r>
            <a:r>
              <a:rPr sz="1050">
                <a:solidFill>
                  <a:srgbClr val="475569"/>
                </a:solidFill>
              </a:rPr>
              <a:t>a call made in a pause mid-sentence waits until the user has been quiet for 2.0 s (pauses in FDB-v3 last 1.6-3.2 s).</a:t>
            </a:r>
          </a:p>
          <a:p>
            <a:pPr>
              <a:spcBef>
                <a:spcPts val="300"/>
              </a:spcBef>
            </a:pPr>
            <a:r>
              <a:rPr sz="1050" b="1">
                <a:solidFill>
                  <a:srgbClr val="111827"/>
                </a:solidFill>
              </a:rPr>
              <a:t>• Quiet: </a:t>
            </a:r>
            <a:r>
              <a:rPr sz="1050">
                <a:solidFill>
                  <a:srgbClr val="475569"/>
                </a:solidFill>
              </a:rPr>
              <a:t>measured on the user's own audio; LiveKit's Gemini plugin reports Gemini's replies as user speech.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172200" y="329184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/>
          <a:lstStyle/>
          <a:p>
            <a:pPr algn="ctr"/>
            <a:r>
              <a:rPr sz="1450" b="1">
                <a:solidFill>
                  <a:srgbClr val="DC2626"/>
                </a:solidFill>
              </a:rPr>
              <a:t>DEFER, DON'T DROP</a:t>
            </a:r>
          </a:p>
          <a:p>
            <a:pPr>
              <a:spcBef>
                <a:spcPts val="300"/>
              </a:spcBef>
            </a:pPr>
            <a:r>
              <a:rPr sz="1050" b="1">
                <a:solidFill>
                  <a:srgbClr val="111827"/>
                </a:solidFill>
              </a:rPr>
              <a:t>• Talked over: </a:t>
            </a:r>
            <a:r>
              <a:rPr sz="1050">
                <a:solidFill>
                  <a:srgbClr val="475569"/>
                </a:solidFill>
              </a:rPr>
              <a:t>if the user speaks again, the call waits; it is dropped only after a correction ('wait', 'actually') and a newer call to the same tool.</a:t>
            </a:r>
          </a:p>
          <a:p>
            <a:pPr>
              <a:spcBef>
                <a:spcPts val="300"/>
              </a:spcBef>
            </a:pPr>
            <a:r>
              <a:rPr sz="1050" b="1">
                <a:solidFill>
                  <a:srgbClr val="111827"/>
                </a:solidFill>
              </a:rPr>
              <a:t>• Result: </a:t>
            </a:r>
            <a:r>
              <a:rPr sz="1050">
                <a:solidFill>
                  <a:srgbClr val="475569"/>
                </a:solidFill>
              </a:rPr>
              <a:t>self-corrections pass 70.6% vs 41.2% for FDB-v3's own Gemini agent.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6172200" y="4937760"/>
            <a:ext cx="5486400" cy="16002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/>
          <a:lstStyle/>
          <a:p>
            <a:pPr algn="ctr"/>
            <a:r>
              <a:rPr sz="1450" b="1">
                <a:solidFill>
                  <a:srgbClr val="6D28D9"/>
                </a:solidFill>
              </a:rPr>
              <a:t>NEVER REPEAT, NEVER SILENT</a:t>
            </a:r>
          </a:p>
          <a:p>
            <a:pPr>
              <a:spcBef>
                <a:spcPts val="300"/>
              </a:spcBef>
            </a:pPr>
            <a:r>
              <a:rPr sz="1050" b="1">
                <a:solidFill>
                  <a:srgbClr val="111827"/>
                </a:solidFill>
              </a:rPr>
              <a:t>• Idempotent: </a:t>
            </a:r>
            <a:r>
              <a:rPr sz="1050">
                <a:solidFill>
                  <a:srgbClr val="475569"/>
                </a:solidFill>
              </a:rPr>
              <a:t>a call with the same tool and arguments runs once; its result is reused.</a:t>
            </a:r>
          </a:p>
          <a:p>
            <a:pPr>
              <a:spcBef>
                <a:spcPts val="300"/>
              </a:spcBef>
            </a:pPr>
            <a:r>
              <a:rPr sz="1050" b="1">
                <a:solidFill>
                  <a:srgbClr val="111827"/>
                </a:solidFill>
              </a:rPr>
              <a:t>• Reply guard: </a:t>
            </a:r>
            <a:r>
              <a:rPr sz="1050">
                <a:solidFill>
                  <a:srgbClr val="475569"/>
                </a:solidFill>
              </a:rPr>
              <a:t>when Gemini cancels its own call and drops the reply, the agent asks it once to report the result.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548640" y="201168"/>
            <a:ext cx="1106424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8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Extension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566928" y="105156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6D28D9"/>
                </a:solidFill>
              </a:rPr>
              <a:t>Beyond the benchmark's domains: hands-free appliance troubleshooting from a camera frame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48640" y="1645920"/>
            <a:ext cx="3611880" cy="489204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 w="190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/>
          <a:lstStyle/>
          <a:p>
            <a:pPr algn="ctr"/>
            <a:r>
              <a:rPr sz="1650" b="1">
                <a:solidFill>
                  <a:srgbClr val="059669"/>
                </a:solidFill>
              </a:rPr>
              <a:t>THE USE CASE</a:t>
            </a:r>
          </a:p>
          <a:p>
            <a:pPr algn="ctr">
              <a:spcAft>
                <a:spcPts val="400"/>
              </a:spcAft>
            </a:pPr>
            <a:r>
              <a:rPr sz="1450" b="1">
                <a:solidFill>
                  <a:srgbClr val="111827"/>
                </a:solidFill>
              </a:rPr>
              <a:t>Camera-grounded troubleshooting</a:t>
            </a:r>
          </a:p>
          <a:p>
            <a:pPr>
              <a:spcBef>
                <a:spcPts val="300"/>
              </a:spcBef>
            </a:pPr>
            <a:r>
              <a:rPr sz="1250" b="1">
                <a:solidFill>
                  <a:srgbClr val="111827"/>
                </a:solidFill>
              </a:rPr>
              <a:t>• </a:t>
            </a:r>
            <a:r>
              <a:rPr sz="1250">
                <a:solidFill>
                  <a:srgbClr val="475569"/>
                </a:solidFill>
              </a:rPr>
              <a:t>'My washer shows error E-20…' → reads model WM-3000 from the frame, looks up E20.</a:t>
            </a:r>
          </a:p>
          <a:p>
            <a:pPr>
              <a:spcBef>
                <a:spcPts val="300"/>
              </a:spcBef>
            </a:pPr>
            <a:r>
              <a:rPr sz="1250" b="1">
                <a:solidFill>
                  <a:srgbClr val="111827"/>
                </a:solidFill>
              </a:rPr>
              <a:t>• </a:t>
            </a:r>
            <a:r>
              <a:rPr sz="1250">
                <a:solidFill>
                  <a:srgbClr val="475569"/>
                </a:solidFill>
              </a:rPr>
              <a:t>'…wait, no, the red light stopped, now it's blinking blue twice' → drops the stale E20 request, grounds the new symptom, answers from the manual (valve fault).</a:t>
            </a:r>
          </a:p>
          <a:p>
            <a:pPr>
              <a:spcBef>
                <a:spcPts val="300"/>
              </a:spcBef>
            </a:pPr>
            <a:r>
              <a:rPr sz="1250" b="1">
                <a:solidFill>
                  <a:srgbClr val="111827"/>
                </a:solidFill>
              </a:rPr>
              <a:t>• </a:t>
            </a:r>
            <a:r>
              <a:rPr sz="1250">
                <a:solidFill>
                  <a:srgbClr val="475569"/>
                </a:solidFill>
              </a:rPr>
              <a:t>Too-dark frame → asks the user to move closer instead of guessing.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4297680" y="1645920"/>
            <a:ext cx="3611880" cy="489204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/>
          <a:lstStyle/>
          <a:p>
            <a:pPr algn="ctr"/>
            <a:r>
              <a:rPr sz="1650" b="1">
                <a:solidFill>
                  <a:srgbClr val="2563EB"/>
                </a:solidFill>
              </a:rPr>
              <a:t>RUNS END TO END</a:t>
            </a:r>
          </a:p>
          <a:p>
            <a:pPr algn="ctr">
              <a:spcAft>
                <a:spcPts val="400"/>
              </a:spcAft>
            </a:pPr>
            <a:r>
              <a:rPr sz="1450" b="1">
                <a:solidFill>
                  <a:srgbClr val="111827"/>
                </a:solidFill>
              </a:rPr>
              <a:t>How to try it</a:t>
            </a:r>
          </a:p>
          <a:p>
            <a:pPr>
              <a:spcBef>
                <a:spcPts val="300"/>
              </a:spcBef>
            </a:pPr>
            <a:r>
              <a:rPr sz="1250" b="1">
                <a:solidFill>
                  <a:srgbClr val="111827"/>
                </a:solidFill>
              </a:rPr>
              <a:t>• Web app: </a:t>
            </a:r>
            <a:r>
              <a:rPr sz="1250">
                <a:solidFill>
                  <a:srgbClr val="475569"/>
                </a:solidFill>
              </a:rPr>
              <a:t>python api/run.py, open localhost:8000, pick or upload a camera frame, then speak or type.</a:t>
            </a:r>
          </a:p>
          <a:p>
            <a:pPr>
              <a:spcBef>
                <a:spcPts val="300"/>
              </a:spcBef>
            </a:pPr>
            <a:r>
              <a:rPr sz="1250" b="1">
                <a:solidFill>
                  <a:srgbClr val="111827"/>
                </a:solidFill>
              </a:rPr>
              <a:t>• Scripted run: </a:t>
            </a:r>
            <a:r>
              <a:rPr sz="1250">
                <a:solidFill>
                  <a:srgbClr val="475569"/>
                </a:solidFill>
              </a:rPr>
              <a:t>python run_eval.py --agent audient --show V03 prints every timestamped action.</a:t>
            </a:r>
          </a:p>
          <a:p>
            <a:pPr>
              <a:spcBef>
                <a:spcPts val="300"/>
              </a:spcBef>
            </a:pPr>
            <a:r>
              <a:rPr sz="1250" b="1">
                <a:solidFill>
                  <a:srgbClr val="111827"/>
                </a:solidFill>
              </a:rPr>
              <a:t>• Perception: </a:t>
            </a:r>
            <a:r>
              <a:rPr sz="1250">
                <a:solidFill>
                  <a:srgbClr val="475569"/>
                </a:solidFill>
              </a:rPr>
              <a:t>RapidOCR + OpenCV read the model, error code and LED colour on the CPU.</a:t>
            </a:r>
          </a:p>
          <a:p>
            <a:pPr>
              <a:spcBef>
                <a:spcPts val="300"/>
              </a:spcBef>
            </a:pPr>
            <a:r>
              <a:rPr sz="1250" b="1">
                <a:solidFill>
                  <a:srgbClr val="111827"/>
                </a:solidFill>
              </a:rPr>
              <a:t>• Scope: </a:t>
            </a:r>
            <a:r>
              <a:rPr sz="1250">
                <a:solidFill>
                  <a:srgbClr val="475569"/>
                </a:solidFill>
              </a:rPr>
              <a:t>runs on Audient's original event-driven agent (same correction rules), not yet inside the LiveKit agent.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8046720" y="1645920"/>
            <a:ext cx="3611880" cy="489204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/>
          <a:lstStyle/>
          <a:p>
            <a:pPr algn="ctr"/>
            <a:r>
              <a:rPr sz="1650" b="1">
                <a:solidFill>
                  <a:srgbClr val="6D28D9"/>
                </a:solidFill>
              </a:rPr>
              <a:t>WHO BENEFITS</a:t>
            </a:r>
          </a:p>
          <a:p>
            <a:pPr algn="ctr">
              <a:spcAft>
                <a:spcPts val="400"/>
              </a:spcAft>
            </a:pPr>
            <a:r>
              <a:rPr sz="1450" b="1">
                <a:solidFill>
                  <a:srgbClr val="111827"/>
                </a:solidFill>
              </a:rPr>
              <a:t>Where interruption-safety matters</a:t>
            </a:r>
          </a:p>
          <a:p>
            <a:pPr>
              <a:spcBef>
                <a:spcPts val="300"/>
              </a:spcBef>
            </a:pPr>
            <a:r>
              <a:rPr sz="1250" b="1">
                <a:solidFill>
                  <a:srgbClr val="111827"/>
                </a:solidFill>
              </a:rPr>
              <a:t>• Field technicians: </a:t>
            </a:r>
            <a:r>
              <a:rPr sz="1250">
                <a:solidFill>
                  <a:srgbClr val="475569"/>
                </a:solidFill>
              </a:rPr>
              <a:t>hands-free manual lookup grounded in what the camera sees.</a:t>
            </a:r>
          </a:p>
          <a:p>
            <a:pPr>
              <a:spcBef>
                <a:spcPts val="300"/>
              </a:spcBef>
            </a:pPr>
            <a:r>
              <a:rPr sz="1250" b="1">
                <a:solidFill>
                  <a:srgbClr val="111827"/>
                </a:solidFill>
              </a:rPr>
              <a:t>• Home users: </a:t>
            </a:r>
            <a:r>
              <a:rPr sz="1250">
                <a:solidFill>
                  <a:srgbClr val="475569"/>
                </a:solidFill>
              </a:rPr>
              <a:t>describe a fault, change their mind, and get the answer for the fault they meant.</a:t>
            </a:r>
          </a:p>
          <a:p>
            <a:pPr>
              <a:spcBef>
                <a:spcPts val="300"/>
              </a:spcBef>
            </a:pPr>
            <a:r>
              <a:rPr sz="1250" b="1">
                <a:solidFill>
                  <a:srgbClr val="111827"/>
                </a:solidFill>
              </a:rPr>
              <a:t>• People with disfluent speech: </a:t>
            </a:r>
            <a:r>
              <a:rPr sz="1250">
                <a:solidFill>
                  <a:srgbClr val="475569"/>
                </a:solidFill>
              </a:rPr>
              <a:t>pauses, fillers and stutters don't cut them 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548640" y="201168"/>
            <a:ext cx="1106424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8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Benchmark results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566928" y="105156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6D28D9"/>
                </a:solidFill>
              </a:rPr>
              <a:t>Full-Duplex-Bench v3: all 100 recordings on GitHub Codespaces, arguments compared exactly (no GPT-4o judge)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48640" y="1645920"/>
            <a:ext cx="3291840" cy="489204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/>
          <a:lstStyle/>
          <a:p>
            <a:pPr algn="ctr"/>
            <a:r>
              <a:rPr sz="1550" b="1">
                <a:solidFill>
                  <a:srgbClr val="6D28D9"/>
                </a:solidFill>
              </a:rPr>
              <a:t>WHAT WE COMPARED</a:t>
            </a:r>
          </a:p>
          <a:p>
            <a:pPr>
              <a:spcBef>
                <a:spcPts val="300"/>
              </a:spcBef>
            </a:pPr>
            <a:r>
              <a:rPr sz="1150" b="1">
                <a:solidFill>
                  <a:srgbClr val="111827"/>
                </a:solidFill>
              </a:rPr>
              <a:t>• Same model, voice and tools: </a:t>
            </a:r>
            <a:r>
              <a:rPr sz="1150">
                <a:solidFill>
                  <a:srgbClr val="475569"/>
                </a:solidFill>
              </a:rPr>
              <a:t>FDB-v3's own gemini2_5 agent is the baseline; Audient adds its layer and a few instructions.</a:t>
            </a:r>
          </a:p>
          <a:p>
            <a:pPr>
              <a:spcBef>
                <a:spcPts val="300"/>
              </a:spcBef>
            </a:pPr>
            <a:r>
              <a:rPr sz="1150" b="1">
                <a:solidFill>
                  <a:srgbClr val="111827"/>
                </a:solidFill>
              </a:rPr>
              <a:t>• Strict pass: </a:t>
            </a:r>
            <a:r>
              <a:rPr sz="1150">
                <a:solidFill>
                  <a:srgbClr val="475569"/>
                </a:solidFill>
              </a:rPr>
              <a:t>every expected call, with the right arguments.</a:t>
            </a:r>
          </a:p>
          <a:p>
            <a:pPr>
              <a:spcBef>
                <a:spcPts val="300"/>
              </a:spcBef>
            </a:pPr>
            <a:r>
              <a:rPr sz="1150" b="1">
                <a:solidFill>
                  <a:srgbClr val="111827"/>
                </a:solidFill>
              </a:rPr>
              <a:t>• Reproduce: </a:t>
            </a:r>
            <a:r>
              <a:rPr sz="1150">
                <a:solidFill>
                  <a:srgbClr val="475569"/>
                </a:solidFill>
              </a:rPr>
              <a:t>bash fdb_agent/setup.sh, then bash fdb_agent/run_benchmark.sh audient.</a:t>
            </a:r>
          </a:p>
        </p:txBody>
      </p:sp>
      <p:graphicFrame>
        <p:nvGraphicFramePr>
          <p:cNvPr id="140" name="Table 139"/>
          <p:cNvGraphicFramePr>
            <a:graphicFrameLocks noGrp="1"/>
          </p:cNvGraphicFramePr>
          <p:nvPr/>
        </p:nvGraphicFramePr>
        <p:xfrm>
          <a:off x="3977639" y="169164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97280"/>
                <a:gridCol w="1097280"/>
              </a:tblGrid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Audient</a:t>
                      </a:r>
                    </a:p>
                  </a:txBody>
                  <a:tcPr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FDB Gemini</a:t>
                      </a:r>
                    </a:p>
                  </a:txBody>
                  <a:tcPr>
                    <a:solidFill>
                      <a:srgbClr val="6D28D9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11827"/>
                          </a:solidFill>
                        </a:rPr>
                        <a:t>Strict pass rate</a:t>
                      </a:r>
                    </a:p>
                  </a:txBody>
                  <a:tcPr>
                    <a:solidFill>
                      <a:srgbClr val="F3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827"/>
                          </a:solidFill>
                        </a:rPr>
                        <a:t>47.0%</a:t>
                      </a:r>
                    </a:p>
                  </a:txBody>
                  <a:tcPr>
                    <a:solidFill>
                      <a:srgbClr val="F3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27"/>
                          </a:solidFill>
                        </a:rPr>
                        <a:t>47.0%</a:t>
                      </a:r>
                    </a:p>
                  </a:txBody>
                  <a:tcPr>
                    <a:solidFill>
                      <a:srgbClr val="F3F0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11827"/>
                          </a:solidFill>
                        </a:rPr>
                        <a:t>Self-correction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827"/>
                          </a:solidFill>
                        </a:rPr>
                        <a:t>70.6%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27"/>
                          </a:solidFill>
                        </a:rPr>
                        <a:t>41.2%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11827"/>
                          </a:solidFill>
                        </a:rPr>
                        <a:t>Medium (2 tools)</a:t>
                      </a:r>
                    </a:p>
                  </a:txBody>
                  <a:tcPr>
                    <a:solidFill>
                      <a:srgbClr val="F3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827"/>
                          </a:solidFill>
                        </a:rPr>
                        <a:t>52.9%</a:t>
                      </a:r>
                    </a:p>
                  </a:txBody>
                  <a:tcPr>
                    <a:solidFill>
                      <a:srgbClr val="F3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27"/>
                          </a:solidFill>
                        </a:rPr>
                        <a:t>44.1%</a:t>
                      </a:r>
                    </a:p>
                  </a:txBody>
                  <a:tcPr>
                    <a:solidFill>
                      <a:srgbClr val="F3F0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11827"/>
                          </a:solidFill>
                        </a:rPr>
                        <a:t>Hard (3-tool chains)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827"/>
                          </a:solidFill>
                        </a:rPr>
                        <a:t>36.7%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27"/>
                          </a:solidFill>
                        </a:rPr>
                        <a:t>40.0%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11827"/>
                          </a:solidFill>
                        </a:rPr>
                        <a:t>Replied at all</a:t>
                      </a:r>
                    </a:p>
                  </a:txBody>
                  <a:tcPr>
                    <a:solidFill>
                      <a:srgbClr val="F3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827"/>
                          </a:solidFill>
                        </a:rPr>
                        <a:t>82/100</a:t>
                      </a:r>
                    </a:p>
                  </a:txBody>
                  <a:tcPr>
                    <a:solidFill>
                      <a:srgbClr val="F3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27"/>
                          </a:solidFill>
                        </a:rPr>
                        <a:t>99/100</a:t>
                      </a:r>
                    </a:p>
                  </a:txBody>
                  <a:tcPr>
                    <a:solidFill>
                      <a:srgbClr val="F3F0FF"/>
                    </a:solidFill>
                  </a:tcPr>
                </a:tc>
              </a:tr>
              <a:tr h="50945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11827"/>
                          </a:solidFill>
                        </a:rPr>
                        <a:t>Avg latency to reply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827"/>
                          </a:solidFill>
                        </a:rPr>
                        <a:t>12.1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27"/>
                          </a:solidFill>
                        </a:rPr>
                        <a:t>13.2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1" name="TextBox 140"/>
          <p:cNvSpPr txBox="1"/>
          <p:nvPr/>
        </p:nvSpPr>
        <p:spPr>
          <a:xfrm>
            <a:off x="3977639" y="5394960"/>
            <a:ext cx="4206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475569"/>
                </a:solidFill>
              </a:rPr>
              <a:t>Audient column: the full run before the voice-detector and reply-guard fixes; the full run with them is pending. Source: reports/fdb/&lt;run&gt;/evaluate_*.txt, from FDB-v3's own scorers.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8321040" y="1645920"/>
            <a:ext cx="3337560" cy="489204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/>
          <a:lstStyle/>
          <a:p>
            <a:pPr algn="ctr"/>
            <a:r>
              <a:rPr sz="1550" b="1">
                <a:solidFill>
                  <a:srgbClr val="D97706"/>
                </a:solidFill>
              </a:rPr>
              <a:t>WHAT HELD IT BACK</a:t>
            </a:r>
          </a:p>
          <a:p>
            <a:pPr>
              <a:spcBef>
                <a:spcPts val="300"/>
              </a:spcBef>
            </a:pPr>
            <a:r>
              <a:rPr sz="1150" b="1">
                <a:solidFill>
                  <a:srgbClr val="111827"/>
                </a:solidFill>
              </a:rPr>
              <a:t>• No reply: </a:t>
            </a:r>
            <a:r>
              <a:rPr sz="1150">
                <a:solidFill>
                  <a:srgbClr val="475569"/>
                </a:solidFill>
              </a:rPr>
              <a:t>LiveKit's Gemini plugin reported Gemini's replies as user speech, so calls were held up to 20 s.</a:t>
            </a:r>
          </a:p>
          <a:p>
            <a:pPr>
              <a:spcBef>
                <a:spcPts val="300"/>
              </a:spcBef>
            </a:pPr>
            <a:r>
              <a:rPr sz="1150" b="1">
                <a:solidFill>
                  <a:srgbClr val="111827"/>
                </a:solidFill>
              </a:rPr>
              <a:t>• Fixed: </a:t>
            </a:r>
            <a:r>
              <a:rPr sz="1150">
                <a:solidFill>
                  <a:srgbClr val="475569"/>
                </a:solidFill>
              </a:rPr>
              <a:t>a local voice detector; of the 24 recordings that had gone silent, 18 now reply (was 6).</a:t>
            </a:r>
          </a:p>
          <a:p>
            <a:pPr>
              <a:spcBef>
                <a:spcPts val="300"/>
              </a:spcBef>
            </a:pPr>
            <a:r>
              <a:rPr sz="1150" b="1">
                <a:solidFill>
                  <a:srgbClr val="111827"/>
                </a:solidFill>
              </a:rPr>
              <a:t>• Still silent: </a:t>
            </a:r>
            <a:r>
              <a:rPr sz="1150">
                <a:solidFill>
                  <a:srgbClr val="475569"/>
                </a:solidFill>
              </a:rPr>
              <a:t>Gemini server errors (1011, 1007), outside our control.</a:t>
            </a:r>
          </a:p>
          <a:p>
            <a:pPr>
              <a:spcBef>
                <a:spcPts val="300"/>
              </a:spcBef>
            </a:pPr>
            <a:r>
              <a:rPr sz="1150" b="1">
                <a:solidFill>
                  <a:srgbClr val="111827"/>
                </a:solidFill>
              </a:rPr>
              <a:t>• Exact match: </a:t>
            </a:r>
            <a:r>
              <a:rPr sz="1150">
                <a:solidFill>
                  <a:srgbClr val="475569"/>
                </a:solidFill>
              </a:rPr>
              <a:t>'3000' vs 3000 fails without the judge.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548640" y="201168"/>
            <a:ext cx="1106424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8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What’s next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566928" y="105156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6D28D9"/>
                </a:solidFill>
              </a:rPr>
              <a:t>Turn the self-correction gain into a higher overall pass rate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548640" y="1645920"/>
            <a:ext cx="5440680" cy="237744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/>
          <a:lstStyle/>
          <a:p>
            <a:pPr algn="ctr"/>
            <a:r>
              <a:rPr sz="1650" b="1">
                <a:solidFill>
                  <a:srgbClr val="2563EB"/>
                </a:solidFill>
              </a:rPr>
              <a:t>BENCHMARK</a:t>
            </a:r>
          </a:p>
          <a:p>
            <a:pPr algn="ctr">
              <a:spcAft>
                <a:spcPts val="400"/>
              </a:spcAft>
            </a:pPr>
            <a:r>
              <a:rPr sz="1450" b="1">
                <a:solidFill>
                  <a:srgbClr val="111827"/>
                </a:solidFill>
              </a:rPr>
              <a:t>Close the gap</a:t>
            </a:r>
          </a:p>
          <a:p>
            <a:pPr>
              <a:spcBef>
                <a:spcPts val="300"/>
              </a:spcBef>
            </a:pPr>
            <a:r>
              <a:rPr sz="1250" b="1">
                <a:solidFill>
                  <a:srgbClr val="111827"/>
                </a:solidFill>
              </a:rPr>
              <a:t>• </a:t>
            </a:r>
            <a:r>
              <a:rPr sz="1250">
                <a:solidFill>
                  <a:srgbClr val="475569"/>
                </a:solidFill>
              </a:rPr>
              <a:t>Full run with the voice detector and reply guard; report it whatever it shows.</a:t>
            </a:r>
          </a:p>
          <a:p>
            <a:pPr>
              <a:spcBef>
                <a:spcPts val="300"/>
              </a:spcBef>
            </a:pPr>
            <a:r>
              <a:rPr sz="1250" b="1">
                <a:solidFill>
                  <a:srgbClr val="111827"/>
                </a:solidFill>
              </a:rPr>
              <a:t>• </a:t>
            </a:r>
            <a:r>
              <a:rPr sz="1250">
                <a:solidFill>
                  <a:srgbClr val="475569"/>
                </a:solidFill>
              </a:rPr>
              <a:t>Normalise argument formats (dates, numbers, IDs) before a call runs, so exact match and the judge agree.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17920" y="1645920"/>
            <a:ext cx="5440680" cy="237744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 w="190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/>
          <a:lstStyle/>
          <a:p>
            <a:pPr algn="ctr"/>
            <a:r>
              <a:rPr sz="1650" b="1">
                <a:solidFill>
                  <a:srgbClr val="059669"/>
                </a:solidFill>
              </a:rPr>
              <a:t>TURN-TAKING</a:t>
            </a:r>
          </a:p>
          <a:p>
            <a:pPr algn="ctr">
              <a:spcAft>
                <a:spcPts val="400"/>
              </a:spcAft>
            </a:pPr>
            <a:r>
              <a:rPr sz="1450" b="1">
                <a:solidFill>
                  <a:srgbClr val="111827"/>
                </a:solidFill>
              </a:rPr>
              <a:t>Local end-of-turn</a:t>
            </a:r>
          </a:p>
          <a:p>
            <a:pPr>
              <a:spcBef>
                <a:spcPts val="300"/>
              </a:spcBef>
            </a:pPr>
            <a:r>
              <a:rPr sz="1250" b="1">
                <a:solidFill>
                  <a:srgbClr val="111827"/>
                </a:solidFill>
              </a:rPr>
              <a:t>• </a:t>
            </a:r>
            <a:r>
              <a:rPr sz="1250">
                <a:solidFill>
                  <a:srgbClr val="475569"/>
                </a:solidFill>
              </a:rPr>
              <a:t>Move end-of-turn to the local voice detector once LiveKit's Gemini plugin supports manual turns.</a:t>
            </a:r>
          </a:p>
          <a:p>
            <a:pPr>
              <a:spcBef>
                <a:spcPts val="300"/>
              </a:spcBef>
            </a:pPr>
            <a:r>
              <a:rPr sz="1250" b="1">
                <a:solidFill>
                  <a:srgbClr val="111827"/>
                </a:solidFill>
              </a:rPr>
              <a:t>• </a:t>
            </a:r>
            <a:r>
              <a:rPr sz="1250">
                <a:solidFill>
                  <a:srgbClr val="475569"/>
                </a:solidFill>
              </a:rPr>
              <a:t>Handle Gemini's own call cancellations directly instead of asking again for the reply.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548640" y="4160520"/>
            <a:ext cx="5440680" cy="237744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/>
          <a:lstStyle/>
          <a:p>
            <a:pPr algn="ctr"/>
            <a:r>
              <a:rPr sz="1650" b="1">
                <a:solidFill>
                  <a:srgbClr val="6D28D9"/>
                </a:solidFill>
              </a:rPr>
              <a:t>EXTENSION</a:t>
            </a:r>
          </a:p>
          <a:p>
            <a:pPr algn="ctr">
              <a:spcAft>
                <a:spcPts val="400"/>
              </a:spcAft>
            </a:pPr>
            <a:r>
              <a:rPr sz="1450" b="1">
                <a:solidFill>
                  <a:srgbClr val="111827"/>
                </a:solidFill>
              </a:rPr>
              <a:t>Inside the LiveKit agent</a:t>
            </a:r>
          </a:p>
          <a:p>
            <a:pPr>
              <a:spcBef>
                <a:spcPts val="300"/>
              </a:spcBef>
            </a:pPr>
            <a:r>
              <a:rPr sz="1250" b="1">
                <a:solidFill>
                  <a:srgbClr val="111827"/>
                </a:solidFill>
              </a:rPr>
              <a:t>• </a:t>
            </a:r>
            <a:r>
              <a:rPr sz="1250">
                <a:solidFill>
                  <a:srgbClr val="475569"/>
                </a:solidFill>
              </a:rPr>
              <a:t>Give the LiveKit agent the camera-troubleshooting tools, so the extension runs on the benchmark agent.</a:t>
            </a:r>
          </a:p>
          <a:p>
            <a:pPr>
              <a:spcBef>
                <a:spcPts val="300"/>
              </a:spcBef>
            </a:pPr>
            <a:r>
              <a:rPr sz="1250" b="1">
                <a:solidFill>
                  <a:srgbClr val="111827"/>
                </a:solidFill>
              </a:rPr>
              <a:t>• </a:t>
            </a:r>
            <a:r>
              <a:rPr sz="1250">
                <a:solidFill>
                  <a:srgbClr val="475569"/>
                </a:solidFill>
              </a:rPr>
              <a:t>Blink-pattern recognition across frames, not just LED colour.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6217920" y="4160520"/>
            <a:ext cx="5440680" cy="237744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/>
          <a:lstStyle/>
          <a:p>
            <a:pPr algn="ctr"/>
            <a:r>
              <a:rPr sz="1650" b="1">
                <a:solidFill>
                  <a:srgbClr val="D97706"/>
                </a:solidFill>
              </a:rPr>
              <a:t>ON-DEVICE</a:t>
            </a:r>
          </a:p>
          <a:p>
            <a:pPr algn="ctr">
              <a:spcAft>
                <a:spcPts val="400"/>
              </a:spcAft>
            </a:pPr>
            <a:r>
              <a:rPr sz="1450" b="1">
                <a:solidFill>
                  <a:srgbClr val="111827"/>
                </a:solidFill>
              </a:rPr>
              <a:t>Galaxy-class deployment</a:t>
            </a:r>
          </a:p>
          <a:p>
            <a:pPr>
              <a:spcBef>
                <a:spcPts val="300"/>
              </a:spcBef>
            </a:pPr>
            <a:r>
              <a:rPr sz="1250" b="1">
                <a:solidFill>
                  <a:srgbClr val="111827"/>
                </a:solidFill>
              </a:rPr>
              <a:t>• Plain Python: </a:t>
            </a:r>
            <a:r>
              <a:rPr sz="1250">
                <a:solidFill>
                  <a:srgbClr val="475569"/>
                </a:solidFill>
              </a:rPr>
              <a:t>the coordination layer has no model on the critical path, a natural fit for on-device execution.</a:t>
            </a:r>
          </a:p>
          <a:p>
            <a:pPr>
              <a:spcBef>
                <a:spcPts val="300"/>
              </a:spcBef>
            </a:pPr>
            <a:r>
              <a:rPr sz="1250" b="1">
                <a:solidFill>
                  <a:srgbClr val="111827"/>
                </a:solidFill>
              </a:rPr>
              <a:t>• </a:t>
            </a:r>
            <a:r>
              <a:rPr sz="1250">
                <a:solidFill>
                  <a:srgbClr val="475569"/>
                </a:solidFill>
              </a:rPr>
              <a:t>Swap the hosted speech model for an on-device one behind the same layer.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/>
          <p:nvPr>
            <p:ph type="title"/>
          </p:nvPr>
        </p:nvSpPr>
        <p:spPr>
          <a:xfrm>
            <a:off x="548640" y="201168"/>
            <a:ext cx="1106424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Checklist- Updated on Public GitHub</a:t>
            </a:r>
            <a:endParaRPr/>
          </a:p>
        </p:txBody>
      </p:sp>
      <p:sp>
        <p:nvSpPr>
          <p:cNvPr id="156" name="Google Shape;156;p1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778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Working prototype code — public GitHub repo (Y/N): Y — github.com/Darsh-14/Audient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README with reproducible setup instructions (Y/N): Y — README.md and fdb_agent/README.md (setup.sh, run_benchmark.sh)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Demo video, 3 to 5 minutes (YouTube or Drive link): Google Drive folder, linked in README.md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Presentation file (PPT or PDF) (Y/N): Y — this deck (8 slides)</a:t>
            </a:r>
            <a:endParaRPr sz="2800"/>
          </a:p>
          <a:p>
            <a:pPr indent="0" lvl="0" marL="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1042415" y="466344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6D28D9"/>
                </a:solidFill>
              </a:rPr>
              <a:t>Audient — Dual-Path Full-Duplex Agent with Dynamic Cancellation</a:t>
            </a:r>
          </a:p>
          <a:p>
            <a:r>
              <a:rPr sz="1300">
                <a:solidFill>
                  <a:srgbClr val="475569"/>
                </a:solidFill>
              </a:rPr>
              <a:t>Repository: github.com/Darsh-14/Audient   ·   Team: Krenos, SRMIST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