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70332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05: Interruptible Real-Time Agents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/>
          <p:cNvSpPr txBox="1"/>
          <p:nvPr/>
        </p:nvSpPr>
        <p:spPr>
          <a:xfrm>
            <a:off x="777240" y="32004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D28D9"/>
                </a:solidFill>
              </a:rPr>
              <a:t>Audient: Dual-Path Full-Duplex Agent with Dynamic Cancellation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Theme 05: Interruptible Real-Time Agents — voice-native, full-duplex, tool-using assistants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PROBLEM STATEMENT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The full-duplex concurrency challenge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Half-duplex bottleneck: </a:t>
            </a:r>
            <a:r>
              <a:rPr sz="1250">
                <a:solidFill>
                  <a:srgbClr val="475569"/>
                </a:solidFill>
              </a:rPr>
              <a:t>assistants listen → think → speak in rigid turns, but people interrupt, pause and correct themselves mid-sentence.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Stale plans: </a:t>
            </a:r>
            <a:r>
              <a:rPr sz="1250">
                <a:solidFill>
                  <a:srgbClr val="475569"/>
                </a:solidFill>
              </a:rPr>
              <a:t>a correction arriving while a tool call is in flight must cancel it, not queue behind it.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Today's failure modes: </a:t>
            </a:r>
            <a:r>
              <a:rPr sz="1250">
                <a:solidFill>
                  <a:srgbClr val="475569"/>
                </a:solidFill>
              </a:rPr>
              <a:t>dead air while tools run, or confident 'Done!' before the action has actually happened.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29768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DISFLUENCIES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Five kinds of messy speech we handle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Fillers ('um', 'uh'): </a:t>
            </a:r>
            <a:r>
              <a:rPr sz="1250">
                <a:solidFill>
                  <a:srgbClr val="475569"/>
                </a:solidFill>
              </a:rPr>
              <a:t>the user still holds the floor; don't answer yet.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Acoustic pauses: </a:t>
            </a:r>
            <a:r>
              <a:rPr sz="1250">
                <a:solidFill>
                  <a:srgbClr val="475569"/>
                </a:solidFill>
              </a:rPr>
              <a:t>a VAD end-of-turn after 'fly to, um…' is not a finished request.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Stutters &amp; hesitations: </a:t>
            </a:r>
            <a:r>
              <a:rPr sz="1250">
                <a:solidFill>
                  <a:srgbClr val="475569"/>
                </a:solidFill>
              </a:rPr>
              <a:t>'f-f-find', 'to to', 'Bo- Boston'.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False starts: </a:t>
            </a:r>
            <a:r>
              <a:rPr sz="1250">
                <a:solidFill>
                  <a:srgbClr val="475569"/>
                </a:solidFill>
              </a:rPr>
              <a:t>'I need to b- book, no, just find flights…'.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Self-corrections: </a:t>
            </a:r>
            <a:r>
              <a:rPr sz="1250">
                <a:solidFill>
                  <a:srgbClr val="475569"/>
                </a:solidFill>
              </a:rPr>
              <a:t>'Delhi, no wait, Bangalore' → roll back one slot, keep the rest.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04672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D97706"/>
                </a:solidFill>
              </a:rPr>
              <a:t>TECHNICAL CHALLENGE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Concurrency &amp; state consistency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Floor management: </a:t>
            </a:r>
            <a:r>
              <a:rPr sz="1250">
                <a:solidFill>
                  <a:srgbClr val="475569"/>
                </a:solidFill>
              </a:rPr>
              <a:t>a meaningful spoken acknowledgment within 250 ms, never a false completion claim.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Speculative execution: </a:t>
            </a:r>
            <a:r>
              <a:rPr sz="1250">
                <a:solidFill>
                  <a:srgbClr val="475569"/>
                </a:solidFill>
              </a:rPr>
              <a:t>start safe (read-only) work before the user finishes; perception runs in worker threads.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Transactional recovery: </a:t>
            </a:r>
            <a:r>
              <a:rPr sz="1250">
                <a:solidFill>
                  <a:srgbClr val="475569"/>
                </a:solidFill>
              </a:rPr>
              <a:t>abort superseded in-flight calls within a 15 ms grace period, update the state snapshot, never duplicate a state-changing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Why current assistant architectures break under interruption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4864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CASCADED PIPELINE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ASR → LLM → TTS, turn by turn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Strength: </a:t>
            </a:r>
            <a:r>
              <a:rPr sz="1250">
                <a:solidFill>
                  <a:srgbClr val="475569"/>
                </a:solidFill>
              </a:rPr>
              <a:t>mature, modular, strong language quality on clean single turns.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Gap: </a:t>
            </a:r>
            <a:r>
              <a:rPr sz="1250">
                <a:solidFill>
                  <a:srgbClr val="475569"/>
                </a:solidFill>
              </a:rPr>
              <a:t>latency adds up stage by stage; the user hears nothing until the tool returns.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Gap: </a:t>
            </a:r>
            <a:r>
              <a:rPr sz="1250">
                <a:solidFill>
                  <a:srgbClr val="475569"/>
                </a:solidFill>
              </a:rPr>
              <a:t>no transactional rollback — a mid-flight correction is handled only after the stale call completes.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Measured (our half-duplex baseline, same NLU &amp; OCR): </a:t>
            </a:r>
            <a:r>
              <a:rPr sz="1250">
                <a:solidFill>
                  <a:srgbClr val="475569"/>
                </a:solidFill>
              </a:rPr>
              <a:t>median first response 1.4 s, max 3.4 s; 1/15 scenarios fully correct.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29768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END-TO-END SPEECH MODELS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Single audio-in / audio-out network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Strength: </a:t>
            </a:r>
            <a:r>
              <a:rPr sz="1250">
                <a:solidFill>
                  <a:srgbClr val="475569"/>
                </a:solidFill>
              </a:rPr>
              <a:t>fast, natural turn-taking and prosody.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Gap: </a:t>
            </a:r>
            <a:r>
              <a:rPr sz="1250">
                <a:solidFill>
                  <a:srgbClr val="475569"/>
                </a:solidFill>
              </a:rPr>
              <a:t>tool calls and dialogue state live inside the model — hard to cancel, audit or make idempotent.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Gap: </a:t>
            </a:r>
            <a:r>
              <a:rPr sz="1250">
                <a:solidFill>
                  <a:srgbClr val="475569"/>
                </a:solidFill>
              </a:rPr>
              <a:t>risk of acting on early parameters before the user finishes, and of stale slot values leaking into chained calls.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04672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GAPS WE CLOSE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Three unresolved problems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Stale &amp; duplicate execution: </a:t>
            </a:r>
            <a:r>
              <a:rPr sz="1250">
                <a:solidFill>
                  <a:srgbClr val="475569"/>
                </a:solidFill>
              </a:rPr>
              <a:t>no cancellation graph → wrong or double bookings.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Dead air vs. hallucinated completion: </a:t>
            </a:r>
            <a:r>
              <a:rPr sz="1250">
                <a:solidFill>
                  <a:srgbClr val="475569"/>
                </a:solidFill>
              </a:rPr>
              <a:t>either silence while tools run, or 'Done!' before they finish.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Fragile floor arbitration: </a:t>
            </a:r>
            <a:r>
              <a:rPr sz="1250">
                <a:solidFill>
                  <a:srgbClr val="475569"/>
                </a:solidFill>
              </a:rPr>
              <a:t>pauses and fillers mistaken for end of turn; real interruptions ignored.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Our baseline shows it: </a:t>
            </a:r>
            <a:r>
              <a:rPr sz="1250">
                <a:solidFill>
                  <a:srgbClr val="475569"/>
                </a:solidFill>
              </a:rPr>
              <a:t>1 double booking and 31% of interruption checks failed.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Audient: dual-path engine with a dynamic cancellation graph and transactional state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169164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</a:rPr>
              <a:t>Event inbox (timestamped)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transcript chunks · WAV · PNG frames · interruptions · tool results · manifests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2560320"/>
            <a:ext cx="260604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59669"/>
                </a:solidFill>
              </a:rPr>
              <a:t>FAST PATH (sync, never awaits)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disfluency normaliser · semantic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end-of-turn check · self-repair ·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conflict detection · spoken acks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337560" y="2560320"/>
            <a:ext cx="2606040" cy="12344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563EB"/>
                </a:solidFill>
              </a:rPr>
              <a:t>SLOW PATH (async tasks)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schema-driven planner · chained &amp;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retried tool calls · OCR / LED /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Whisper in worker threads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" y="4114800"/>
            <a:ext cx="539496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C2626"/>
                </a:solidFill>
              </a:rPr>
              <a:t>COORDINATION LAYER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cancellation graph (DAG) · two-tier slots: tentative | committed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SHA-256 idempotency keys · commit ledger · retry with same key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48640" y="553212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11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11827"/>
                </a:solidFill>
              </a:rPr>
              <a:t>Action outbox</a:t>
            </a:r>
          </a:p>
          <a:p>
            <a:pPr algn="ctr"/>
            <a:r>
              <a:rPr sz="950" b="0">
                <a:solidFill>
                  <a:srgbClr val="475569"/>
                </a:solidFill>
              </a:rPr>
              <a:t>speak (ack / progress / filler) · tool_call(call_id) · cancel · clarify · final_response + state snapshot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828800" y="224028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4663440" y="224028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154680" y="3172968"/>
            <a:ext cx="182880" cy="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28800" y="379476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4663440" y="379476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246120" y="5212080"/>
            <a:ext cx="0" cy="320040"/>
          </a:xfrm>
          <a:prstGeom prst="line">
            <a:avLst/>
          </a:prstGeom>
          <a:ln w="222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6172200" y="164592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059669"/>
                </a:solidFill>
              </a:rPr>
              <a:t>REFLEX PATH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Semantic acknowledgments ('Got it, updating that. Booking flight for 3.'): </a:t>
            </a:r>
            <a:r>
              <a:rPr sz="1050">
                <a:solidFill>
                  <a:srgbClr val="475569"/>
                </a:solidFill>
              </a:rPr>
              <a:t>median 0.7 ms, max 5.3 ms after the user's turn ends.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</a:t>
            </a:r>
            <a:r>
              <a:rPr sz="1050">
                <a:solidFill>
                  <a:srgbClr val="475569"/>
                </a:solidFill>
              </a:rPr>
              <a:t>Progress narration only after 2.5 s of silence; never claims completion before a tool result.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172200" y="329184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DC2626"/>
                </a:solidFill>
              </a:rPr>
              <a:t>CANCELLATION GRAPH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Every call, retry timer and progress timer is a DAG node; invalidating a call kills its descendants. Measured cancel latency after a correction: </a:t>
            </a:r>
            <a:r>
              <a:rPr sz="1050">
                <a:solidFill>
                  <a:srgbClr val="475569"/>
                </a:solidFill>
              </a:rPr>
              <a:t>max 4.5 ms (grace 15 ms).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</a:t>
            </a:r>
            <a:r>
              <a:rPr sz="1050">
                <a:solidFill>
                  <a:srgbClr val="475569"/>
                </a:solidFill>
              </a:rPr>
              <a:t>Mid-utterance repair cues ('no wait', 'actually', 'make it') trigger cancellation from partial transcripts.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72200" y="493776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6D28D9"/>
                </a:solidFill>
              </a:rPr>
              <a:t>TRANSACTIONAL SAFETY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</a:t>
            </a:r>
            <a:r>
              <a:rPr sz="1050">
                <a:solidFill>
                  <a:srgbClr val="475569"/>
                </a:solidFill>
              </a:rPr>
              <a:t>Tentative slots from partial speech never reach a state-changing call; only committed slots do.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</a:t>
            </a:r>
            <a:r>
              <a:rPr sz="1050">
                <a:solidFill>
                  <a:srgbClr val="475569"/>
                </a:solidFill>
              </a:rPr>
              <a:t>SHA-256 key over tool + canonical args; commit ledger blocks repeats; a late commit after a cancel is detected and reported, not duplicated.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Live trace: mid-booking correction (scenario T04, virtual clock, real CPU time charged)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48640" y="1645920"/>
            <a:ext cx="11109960" cy="324612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128016"/>
          <a:lstStyle/>
          <a:p>
            <a:pPr algn="l"/>
            <a:r>
              <a:rPr sz="1000">
                <a:solidFill>
                  <a:srgbClr val="FDE68A"/>
                </a:solidFill>
                <a:latin typeface="Consolas"/>
              </a:rPr>
              <a:t> 0.5000s  USER   says: "Book the cheapest flight from Pune to Chennai tomorrow for 2 passengers"</a:t>
            </a:r>
          </a:p>
          <a:p>
            <a:pPr algn="l"/>
            <a:r>
              <a:rPr sz="1000">
                <a:solidFill>
                  <a:srgbClr val="86EFAC"/>
                </a:solidFill>
                <a:latin typeface="Consolas"/>
              </a:rPr>
              <a:t> 0.5009s  AGENT  speak[ack] "Sure. Booking flight for 2."</a:t>
            </a:r>
          </a:p>
          <a:p>
            <a:pPr algn="l"/>
            <a:r>
              <a:rPr sz="1000">
                <a:solidFill>
                  <a:srgbClr val="93C5FD"/>
                </a:solidFill>
                <a:latin typeface="Consolas"/>
              </a:rPr>
              <a:t> 0.5009s  AGENT  tool_call call_001 search_flights({"origin": "Pune", "destination": "Chennai", "date": "2026-10-02", "passengers": 2})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onsolas"/>
              </a:rPr>
              <a:t> 2.1009s  TOOL   result call_001 status=ok</a:t>
            </a:r>
          </a:p>
          <a:p>
            <a:pPr algn="l"/>
            <a:r>
              <a:rPr sz="1000">
                <a:solidFill>
                  <a:srgbClr val="93C5FD"/>
                </a:solidFill>
                <a:latin typeface="Consolas"/>
              </a:rPr>
              <a:t> 2.1010s  AGENT  tool_call call_002 book_flight({"flight_id": "UK-406", "passengers": 2})</a:t>
            </a:r>
          </a:p>
          <a:p>
            <a:pPr algn="l"/>
            <a:r>
              <a:rPr sz="1000">
                <a:solidFill>
                  <a:srgbClr val="FDE68A"/>
                </a:solidFill>
                <a:latin typeface="Consolas"/>
              </a:rPr>
              <a:t> 2.5000s  USER   barge-in (interruption signal)</a:t>
            </a:r>
          </a:p>
          <a:p>
            <a:pPr algn="l"/>
            <a:r>
              <a:rPr sz="1000">
                <a:solidFill>
                  <a:srgbClr val="FDE68A"/>
                </a:solidFill>
                <a:latin typeface="Consolas"/>
              </a:rPr>
              <a:t> 2.6000s  USER   says: "wait, make it 3 passengers"</a:t>
            </a:r>
          </a:p>
          <a:p>
            <a:pPr algn="l"/>
            <a:r>
              <a:rPr sz="1000">
                <a:solidFill>
                  <a:srgbClr val="FCA5A5"/>
                </a:solidFill>
                <a:latin typeface="Consolas"/>
              </a:rPr>
              <a:t> 2.6007s  AGENT  CANCEL call_002 (superseded_by_user_correction)</a:t>
            </a:r>
          </a:p>
          <a:p>
            <a:pPr algn="l"/>
            <a:r>
              <a:rPr sz="1000">
                <a:solidFill>
                  <a:srgbClr val="86EFAC"/>
                </a:solidFill>
                <a:latin typeface="Consolas"/>
              </a:rPr>
              <a:t> 2.6009s  AGENT  speak[ack] "Got it, updating that. Booking flight for 3."</a:t>
            </a:r>
          </a:p>
          <a:p>
            <a:pPr algn="l"/>
            <a:r>
              <a:rPr sz="1000">
                <a:solidFill>
                  <a:srgbClr val="93C5FD"/>
                </a:solidFill>
                <a:latin typeface="Consolas"/>
              </a:rPr>
              <a:t> 2.6009s  AGENT  tool_call call_003 book_flight({"flight_id": "UK-406", "passengers": 3})</a:t>
            </a:r>
          </a:p>
          <a:p>
            <a:pPr algn="l"/>
            <a:r>
              <a:rPr sz="1000">
                <a:solidFill>
                  <a:srgbClr val="94A3B8"/>
                </a:solidFill>
                <a:latin typeface="Consolas"/>
              </a:rPr>
              <a:t> 4.4009s  TOOL   result call_003 status=ok</a:t>
            </a:r>
          </a:p>
          <a:p>
            <a:pPr algn="l"/>
            <a:r>
              <a:rPr sz="1000">
                <a:solidFill>
                  <a:srgbClr val="C4B5FD"/>
                </a:solidFill>
                <a:latin typeface="Consolas"/>
              </a:rPr>
              <a:t> 4.4009s  AGENT  final_response "Done. Your flight is confirmed: BK959575 (confirmed, 3)."  slots={'passengers': 3, 'origin': 'Pune', 'destination': 'Chennai', 'date': '2026-10-02', 'flight_id': 'UK-406'}</a:t>
            </a:r>
          </a:p>
          <a:p>
            <a:pPr algn="l"/>
            <a:r>
              <a:rPr sz="10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FFFFFF"/>
                </a:solidFill>
                <a:latin typeface="Consolas"/>
              </a:rPr>
              <a:t>commits: 1 → book_flight({"flight_id": "UK-406", "passengers": 3})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8640" y="502920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059669"/>
                </a:solidFill>
              </a:rPr>
              <a:t>WHAT TO NOTICE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The correction lands while book_flight(2) is in flight: </a:t>
            </a:r>
            <a:r>
              <a:rPr sz="1050">
                <a:solidFill>
                  <a:srgbClr val="475569"/>
                </a:solidFill>
              </a:rPr>
              <a:t>it is cancelled 0.8 ms later and re-issued with 3 passengers — exactly one commit.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</a:t>
            </a:r>
            <a:r>
              <a:rPr sz="1050">
                <a:solidFill>
                  <a:srgbClr val="475569"/>
                </a:solidFill>
              </a:rPr>
              <a:t>Across the suite the first acknowledgment follows a user turn by 0.7 ms (median, max 5.3 ms); 'confirmed' is only said after the tool result.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217920" y="502920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450" b="1">
                <a:solidFill>
                  <a:srgbClr val="2563EB"/>
                </a:solidFill>
              </a:rPr>
              <a:t>REPRODUCE &amp; VIDEO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</a:t>
            </a:r>
            <a:r>
              <a:rPr sz="1050">
                <a:solidFill>
                  <a:srgbClr val="475569"/>
                </a:solidFill>
              </a:rPr>
              <a:t>python run_eval.py --agent audient --show T04   (any scenario id works, e.g. V03 for camera + self-repair).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111827"/>
                </a:solidFill>
              </a:rPr>
              <a:t>• Demo video (≤ 5 min): </a:t>
            </a:r>
            <a:r>
              <a:rPr sz="1050">
                <a:solidFill>
                  <a:srgbClr val="475569"/>
                </a:solidFill>
              </a:rPr>
              <a:t>[link to be added after recording].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What the prototype actually runs on — offline, CPU-only, no API keys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RUNTIME &amp; ORCHESTRATION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Python asyncio: </a:t>
            </a:r>
            <a:r>
              <a:rPr sz="1250">
                <a:solidFill>
                  <a:srgbClr val="475569"/>
                </a:solidFill>
              </a:rPr>
              <a:t>fast path, slow-path tasks and the coordination layer in one event loop.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Custom virtual-time event loop: </a:t>
            </a:r>
            <a:r>
              <a:rPr sz="1250">
                <a:solidFill>
                  <a:srgbClr val="475569"/>
                </a:solidFill>
              </a:rPr>
              <a:t>skips idle waits, charges real CPU time → honest latencies, fast replays.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Pure-Python cancellation DAG, commit ledger, SHA-256 idempotency (hashlib).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1792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PERCEPTION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RapidOCR (ONNX Runtime) + OpenCV: </a:t>
            </a:r>
            <a:r>
              <a:rPr sz="1250">
                <a:solidFill>
                  <a:srgbClr val="475569"/>
                </a:solidFill>
              </a:rPr>
              <a:t>error codes and model numbers from camera frames; LED colour from bright, round, saturated blobs; darkness/blur checks.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Whisper base.en via Hugging Face Transformers for WAV clips — implemented, optional, not benchmarked (model not downloaded).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4864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LANGUAGE UNDERSTANDING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Deterministic, schema-driven NLU: </a:t>
            </a:r>
            <a:r>
              <a:rPr sz="1250">
                <a:solidFill>
                  <a:srgbClr val="475569"/>
                </a:solidFill>
              </a:rPr>
              <a:t>parameters are typed from the tool manifest (name, JSON type, enum, format), so unseen tools work without code changes.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Regex + lexicon extractors for places, dates, times, counts, codes, indicators, names; self-repair resolution.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1792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D97706"/>
                </a:solidFill>
              </a:rPr>
              <a:t>EVALUATION &amp; PACKAGING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Streaming replay harness, deterministic mock tools (latency + fault injection), trace-based scorer (40/35/15/10, 15 ms grace).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pytest unit tests; run_evaluation.sh one-command run; Dockerfile + compose provided (not yet built — no Docker on the dev machine).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Impact &amp; use cases — each one is a scenario in our test suite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4864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TOOL DOMAINS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What the agent can drive today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Travel: </a:t>
            </a:r>
            <a:r>
              <a:rPr sz="1250">
                <a:solidFill>
                  <a:srgbClr val="475569"/>
                </a:solidFill>
              </a:rPr>
              <a:t>flight search → cheapest-flight booking (chained calls).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In-car: </a:t>
            </a:r>
            <a:r>
              <a:rPr sz="1250">
                <a:solidFill>
                  <a:srgbClr val="475569"/>
                </a:solidFill>
              </a:rPr>
              <a:t>route to a destination that changes mid-calculation.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Support: </a:t>
            </a:r>
            <a:r>
              <a:rPr sz="1250">
                <a:solidFill>
                  <a:srgbClr val="475569"/>
                </a:solidFill>
              </a:rPr>
              <a:t>tickets with priority from 'it's urgent'.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Unseen tool: </a:t>
            </a:r>
            <a:r>
              <a:rPr sz="1250">
                <a:solidFill>
                  <a:srgbClr val="475569"/>
                </a:solidFill>
              </a:rPr>
              <a:t>a restaurant reservation tool it never saw, driven purely from the manifest.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Zero double bookings across the whole suite, including a mid-booking passenger change.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29768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MULTIMODAL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Camera-grounded troubleshooting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'My washer shows error E-20…' → reads model WM-3000 from the frame, looks up E20.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'…wait, no, the red light stopped, now it's blinking blue twice' → cancels the E20 lookup, grounds the new symptom, answers from the manual (valve fault).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Too-dark frame → asks the user to move closer instead of guessing.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046720" y="1645920"/>
            <a:ext cx="361188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WHO BENEFITS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Where interruption-safety matters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Drivers: </a:t>
            </a:r>
            <a:r>
              <a:rPr sz="1250">
                <a:solidFill>
                  <a:srgbClr val="475569"/>
                </a:solidFill>
              </a:rPr>
              <a:t>change destinations hands-free without stale routes.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People with disfluent speech: </a:t>
            </a:r>
            <a:r>
              <a:rPr sz="1250">
                <a:solidFill>
                  <a:srgbClr val="475569"/>
                </a:solidFill>
              </a:rPr>
              <a:t>pauses, fillers and stutters don't cut them off.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Contact centres: </a:t>
            </a:r>
            <a:r>
              <a:rPr sz="1250">
                <a:solidFill>
                  <a:srgbClr val="475569"/>
                </a:solidFill>
              </a:rPr>
              <a:t>no double transactions when customers change their minds mid-booking.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Field technicians: </a:t>
            </a:r>
            <a:r>
              <a:rPr sz="1250">
                <a:solidFill>
                  <a:srgbClr val="475569"/>
                </a:solidFill>
              </a:rPr>
              <a:t>hands-free manual lookup grounded in what the camera sees.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Innovations, measured results (15 scenarios, our harness) and honest limitations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48640" y="1645920"/>
            <a:ext cx="329184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50" b="1">
                <a:solidFill>
                  <a:srgbClr val="6D28D9"/>
                </a:solidFill>
              </a:rPr>
              <a:t>INNOVATIONS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</a:t>
            </a:r>
            <a:r>
              <a:rPr sz="1150">
                <a:solidFill>
                  <a:srgbClr val="475569"/>
                </a:solidFill>
              </a:rPr>
              <a:t>Cancellation graph over calls, retries and timers.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Two-tier slots: </a:t>
            </a:r>
            <a:r>
              <a:rPr sz="1150">
                <a:solidFill>
                  <a:srgbClr val="475569"/>
                </a:solidFill>
              </a:rPr>
              <a:t>tentative (partial speech) vs committed.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Idempotency barrier: </a:t>
            </a:r>
            <a:r>
              <a:rPr sz="1150">
                <a:solidFill>
                  <a:srgbClr val="475569"/>
                </a:solidFill>
              </a:rPr>
              <a:t>SHA-256 keys + commit ledger + late-commit reconciliation.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</a:t>
            </a:r>
            <a:r>
              <a:rPr sz="1150">
                <a:solidFill>
                  <a:srgbClr val="475569"/>
                </a:solidFill>
              </a:rPr>
              <a:t>Semantic end-of-turn hold for pauses and fillers.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</a:t>
            </a:r>
            <a:r>
              <a:rPr sz="1150">
                <a:solidFill>
                  <a:srgbClr val="475569"/>
                </a:solidFill>
              </a:rPr>
              <a:t>Virtual clock that charges real CPU — found and fixed a GIL-contention bug (cancel took 17.7 ms while OCR ran).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3977639" y="1691640"/>
          <a:ext cx="4206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Audient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Half-duplex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Scenarios, all checks pass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15/15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1/15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Weighted score (pre-multiplier)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75.3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Task completion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Interruption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Latency credit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37%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First response, median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0.7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1,421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Max cancel latency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4.5 ms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never cancels</a:t>
                      </a:r>
                    </a:p>
                  </a:txBody>
                  <a:tcPr>
                    <a:solidFill>
                      <a:srgbClr val="F3F0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</a:rPr>
                        <a:t>Double 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3977639" y="58064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475569"/>
                </a:solidFill>
              </a:rPr>
              <a:t>Baseline = same NLU and OCR, half-duplex control flow. Source: reports/results.json (python run_eval.py).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321040" y="1645920"/>
            <a:ext cx="3337560" cy="48920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550" b="1">
                <a:solidFill>
                  <a:srgbClr val="D97706"/>
                </a:solidFill>
              </a:rPr>
              <a:t>LIMITATIONS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Own test suite: </a:t>
            </a:r>
            <a:r>
              <a:rPr sz="1150">
                <a:solidFill>
                  <a:srgbClr val="475569"/>
                </a:solidFill>
              </a:rPr>
              <a:t>the official kit wasn't released; the agent was tuned on these 15 scenarios.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</a:t>
            </a:r>
            <a:r>
              <a:rPr sz="1150">
                <a:solidFill>
                  <a:srgbClr val="475569"/>
                </a:solidFill>
              </a:rPr>
              <a:t>Audio path not benchmarked (Whisper model not installed).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Rule-based NLU: </a:t>
            </a:r>
            <a:r>
              <a:rPr sz="1150">
                <a:solidFill>
                  <a:srgbClr val="475569"/>
                </a:solidFill>
              </a:rPr>
              <a:t>limited gazetteers and entity types.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</a:t>
            </a:r>
            <a:r>
              <a:rPr sz="1150">
                <a:solidFill>
                  <a:srgbClr val="475569"/>
                </a:solidFill>
              </a:rPr>
              <a:t>No LED blink counting across frames yet.</a:t>
            </a:r>
          </a:p>
          <a:p>
            <a:pPr>
              <a:spcBef>
                <a:spcPts val="300"/>
              </a:spcBef>
            </a:pPr>
            <a:r>
              <a:rPr sz="1150" b="1">
                <a:solidFill>
                  <a:srgbClr val="111827"/>
                </a:solidFill>
              </a:rPr>
              <a:t>• </a:t>
            </a:r>
            <a:r>
              <a:rPr sz="1150">
                <a:solidFill>
                  <a:srgbClr val="475569"/>
                </a:solidFill>
              </a:rPr>
              <a:t>Docker image not yet built or tested.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What's next: from verified prototype to hidden-set robustness and on-device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EVALUATION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Plug into the official kit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Map the released schema in protocol.adapt_event; run the 9 public + ~60 hidden-style scenarios.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Adversarial-timing generator: </a:t>
            </a:r>
            <a:r>
              <a:rPr sz="1250">
                <a:solidFill>
                  <a:srgbClr val="475569"/>
                </a:solidFill>
              </a:rPr>
              <a:t>corrections landing at random offsets around tool completion.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21792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SPEECH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Streaming audio in the loop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Stream Whisper partial hypotheses into the speculative path; confidence-gated clarifications.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Acoustic cues (pitch drop, pause length) to complement the semantic end-of-turn check.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4864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REASONING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LLM slow path, safely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Optional LLM planner for open-ended requests; every extracted slot must be span-verified against the transcript before use.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Process-based perception workers to remove GIL contention entirely.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21792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D97706"/>
                </a:solidFill>
              </a:rPr>
              <a:t>ON-DEVICE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Galaxy-class deployment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The fast path is pure Python with no model on the critical path — a natural fit for on-device execution.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Blink-pattern recognition from frame sequences for the troubleshooting extension.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566928" y="10515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D28D9"/>
                </a:solidFill>
              </a:rPr>
              <a:t>Why Audient stands out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6D28D9"/>
                </a:solidFill>
              </a:rPr>
              <a:t>VERIFIABLE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Every claim has a trace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Deterministic mock tools + virtual clock: </a:t>
            </a:r>
            <a:r>
              <a:rPr sz="1250">
                <a:solidFill>
                  <a:srgbClr val="475569"/>
                </a:solidFill>
              </a:rPr>
              <a:t>the jury can replay any scenario and read each timestamped action.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One command: </a:t>
            </a:r>
            <a:r>
              <a:rPr sz="1250">
                <a:solidFill>
                  <a:srgbClr val="475569"/>
                </a:solidFill>
              </a:rPr>
              <a:t>./run_evaluation.sh (tests + benchmark + baseline comparison).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217920" y="16459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DC2626"/>
                </a:solidFill>
              </a:rPr>
              <a:t>TRANSACTIONAL SAFETY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Zero duplicate state changes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Idempotency keys survive retries; tentative slots can never trigger a state change.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A commit that races a cancel is reconciled and reported — never repeated.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4864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059669"/>
                </a:solidFill>
              </a:rPr>
              <a:t>LATENCY HIDING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Talk while tools work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Acknowledgments in 0.7 ms (median) vs 1.4 s for the half-duplex baseline.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Speculative read-only prefetch from partial speech: </a:t>
            </a:r>
            <a:r>
              <a:rPr sz="1250">
                <a:solidFill>
                  <a:srgbClr val="475569"/>
                </a:solidFill>
              </a:rPr>
              <a:t>in T11 the answer is spoken at 1.90 s instead of 2.60 s (0.7 s saved).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217920" y="4160520"/>
            <a:ext cx="5440680" cy="237744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/>
          <a:lstStyle/>
          <a:p>
            <a:pPr algn="ctr"/>
            <a:r>
              <a:rPr sz="1650" b="1">
                <a:solidFill>
                  <a:srgbClr val="2563EB"/>
                </a:solidFill>
              </a:rPr>
              <a:t>MULTIMODAL</a:t>
            </a:r>
          </a:p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11827"/>
                </a:solidFill>
              </a:rPr>
              <a:t>Speech + camera, with self-repair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OCR + LED grounding runs behind a spoken acknowledgment in a worker thread.</a:t>
            </a:r>
          </a:p>
          <a:p>
            <a:pPr>
              <a:spcBef>
                <a:spcPts val="300"/>
              </a:spcBef>
            </a:pPr>
            <a:r>
              <a:rPr sz="1250" b="1">
                <a:solidFill>
                  <a:srgbClr val="111827"/>
                </a:solidFill>
              </a:rPr>
              <a:t>• </a:t>
            </a:r>
            <a:r>
              <a:rPr sz="1250">
                <a:solidFill>
                  <a:srgbClr val="475569"/>
                </a:solidFill>
              </a:rPr>
              <a:t>Cross-modal correction (error code → blinking light) cancels the stale lookup and re-grounds.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(Y/N): Y — code complete locally; GitHub link to be added after push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(Y/N): Y — README.md, requirements.txt, run_evaluation.sh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link): [to be recorded — link pending]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(Y/N): Y — this deck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663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D28D9"/>
                </a:solidFill>
              </a:rPr>
              <a:t>Audient — Dual-Path Full-Duplex Agent with Dynamic Cancellation</a:t>
            </a:r>
          </a:p>
          <a:p>
            <a:r>
              <a:rPr sz="1300">
                <a:solidFill>
                  <a:srgbClr val="475569"/>
                </a:solidFill>
              </a:rPr>
              <a:t>Repository: [GitHub link]   ·   Team: [Team Name], [College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